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920240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 You Trust an AI Mathematician?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880360" y="2779776"/>
            <a:ext cx="640080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2962656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/ affiliation / venue / date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and trust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40664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systems are much stronger at mathematics than they were even a year ago.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now perform impressively on demanding benchmarks.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capability and trust are not the same question.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ask this now?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8046720" cy="2743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results in mathematics are improving quickly.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are also beginning to contribute, at least in limited ways, to research-level work.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question is no longer speculative.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5074920"/>
            <a:ext cx="6035040" cy="822960"/>
          </a:xfrm>
          <a:prstGeom prst="roundRect">
            <a:avLst>
              <a:gd name="adj" fmla="val 8889"/>
            </a:avLst>
          </a:prstGeom>
          <a:solidFill>
            <a:srgbClr val="DCE7ED"/>
          </a:solidFill>
          <a:ln w="12700">
            <a:solidFill>
              <a:srgbClr val="3F5C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5239512"/>
            <a:ext cx="570585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concrete examples here: one benchmark example and one research-adjacent example.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for working mathematicians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8138160" cy="2743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working mathematician, the issue is practical rather than philosophical: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 do not know the answer, can this help me without wasting time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creating false confidence?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should we judge them?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ECE7DC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545336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3272" y="1856232"/>
            <a:ext cx="4425696" cy="22128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what these systems can sometimes do under controlled conditions.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806440" y="141732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E7EEF2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71032" y="1545336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own experiments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71032" y="1856232"/>
            <a:ext cx="4425696" cy="22128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how they behave in actual mathematical work.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4709160"/>
            <a:ext cx="4023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both kinds of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benchmarks tell us, and what they do not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4709160" cy="2971800"/>
          </a:xfrm>
          <a:prstGeom prst="roundRect">
            <a:avLst>
              <a:gd name="adj" fmla="val 2462"/>
            </a:avLst>
          </a:prstGeom>
          <a:solidFill>
            <a:srgbClr val="ECE7DC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545336"/>
            <a:ext cx="4379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do tell 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3272" y="1856232"/>
            <a:ext cx="4379976" cy="2441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measure difficult problem-solving under fixed conditions.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760720" y="1417320"/>
            <a:ext cx="4800600" cy="2971800"/>
          </a:xfrm>
          <a:prstGeom prst="roundRect">
            <a:avLst>
              <a:gd name="adj" fmla="val 2462"/>
            </a:avLst>
          </a:prstGeom>
          <a:solidFill>
            <a:srgbClr val="E7EEF2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25312" y="1545336"/>
            <a:ext cx="4471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do not tell us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25312" y="1856232"/>
            <a:ext cx="4471416" cy="2441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these systems can efficiently contribute to our understanding of mathematical problems.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4773168"/>
            <a:ext cx="59436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the question mathematicians actually care about.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recent tests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pic>
        <p:nvPicPr>
          <p:cNvPr id="5" name="Image 0" descr="/home/matt.linux/talks/2026/oregon/assets/raw-images/archon-firstproof-o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417320"/>
            <a:ext cx="4709160" cy="3154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1417320"/>
            <a:ext cx="4709160" cy="3154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8C4B7"/>
            </a:solidFill>
            <a:prstDash val="solid"/>
          </a:ln>
        </p:spPr>
      </p:sp>
      <p:pic>
        <p:nvPicPr>
          <p:cNvPr id="7" name="Image 1" descr="/home/matt.linux/talks/2026/oregon/assets/raw-images/frontiermath-bann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0" y="1417320"/>
            <a:ext cx="4800600" cy="31546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60720" y="1417320"/>
            <a:ext cx="4800600" cy="3154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68680" y="4846320"/>
            <a:ext cx="77724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two examples ask rather different questions.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they give a useful picture of recent progress.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Proof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pic>
        <p:nvPicPr>
          <p:cNvPr id="5" name="Image 0" descr="/home/matt.linux/talks/2026/oregon/assets/raw-images/archon-firstproof-o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325880"/>
            <a:ext cx="54864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1325880"/>
            <a:ext cx="5486400" cy="3840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0" y="1417320"/>
            <a:ext cx="457200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Proof evaluates olympiad-style proof generation.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still an artificial setting, but it is at least recognizable mathematics.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asks for sustained reasoning, not just short-answer pattern matching.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FrontierMath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pic>
        <p:nvPicPr>
          <p:cNvPr id="5" name="Image 0" descr="/home/matt.linux/talks/2026/oregon/assets/raw-images/frontiermath-bann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325880"/>
            <a:ext cx="54864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1325880"/>
            <a:ext cx="5486400" cy="3840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0" y="1417320"/>
            <a:ext cx="457200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FrontierMath was designed to probe much harder mathematics.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harder tiers aim beyond standard benchmark questions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are meant to resist superficial pattern matching.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score can hide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31720" y="132588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0" y="132588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83480" y="132588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132588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8105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3408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8712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31720" y="1645920"/>
            <a:ext cx="914400" cy="384048"/>
          </a:xfrm>
          <a:prstGeom prst="roundRect">
            <a:avLst/>
          </a:prstGeom>
          <a:solidFill>
            <a:srgbClr val="DCE7ED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1691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657600" y="1645920"/>
            <a:ext cx="914400" cy="384048"/>
          </a:xfrm>
          <a:prstGeom prst="roundRect">
            <a:avLst/>
          </a:prstGeom>
          <a:solidFill>
            <a:srgbClr val="ECE7DC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691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983480" y="1645920"/>
            <a:ext cx="914400" cy="384048"/>
          </a:xfrm>
          <a:prstGeom prst="roundRect">
            <a:avLst/>
          </a:prstGeom>
          <a:solidFill>
            <a:srgbClr val="ECE7DC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691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309360" y="1645920"/>
            <a:ext cx="914400" cy="384048"/>
          </a:xfrm>
          <a:prstGeom prst="roundRect">
            <a:avLst/>
          </a:prstGeom>
          <a:solidFill>
            <a:srgbClr val="DCE7ED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691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331720" y="2176272"/>
            <a:ext cx="914400" cy="384048"/>
          </a:xfrm>
          <a:prstGeom prst="roundRect">
            <a:avLst/>
          </a:prstGeom>
          <a:solidFill>
            <a:srgbClr val="ECE7DC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31720" y="22219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657600" y="2176272"/>
            <a:ext cx="914400" cy="384048"/>
          </a:xfrm>
          <a:prstGeom prst="roundRect">
            <a:avLst/>
          </a:prstGeom>
          <a:solidFill>
            <a:srgbClr val="DCE7ED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22219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983480" y="2176272"/>
            <a:ext cx="914400" cy="384048"/>
          </a:xfrm>
          <a:prstGeom prst="roundRect">
            <a:avLst/>
          </a:prstGeom>
          <a:solidFill>
            <a:srgbClr val="DCE7ED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2219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309360" y="2176272"/>
            <a:ext cx="914400" cy="384048"/>
          </a:xfrm>
          <a:prstGeom prst="roundRect">
            <a:avLst/>
          </a:prstGeom>
          <a:solidFill>
            <a:srgbClr val="ECE7DC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2219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2331720" y="2706624"/>
            <a:ext cx="914400" cy="384048"/>
          </a:xfrm>
          <a:prstGeom prst="roundRect">
            <a:avLst/>
          </a:prstGeom>
          <a:solidFill>
            <a:srgbClr val="ECE7DC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31720" y="27523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3657600" y="2706624"/>
            <a:ext cx="914400" cy="384048"/>
          </a:xfrm>
          <a:prstGeom prst="roundRect">
            <a:avLst/>
          </a:prstGeom>
          <a:solidFill>
            <a:srgbClr val="ECE7DC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27523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4983480" y="2706624"/>
            <a:ext cx="914400" cy="384048"/>
          </a:xfrm>
          <a:prstGeom prst="roundRect">
            <a:avLst/>
          </a:prstGeom>
          <a:solidFill>
            <a:srgbClr val="DCE7ED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7523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309360" y="2706624"/>
            <a:ext cx="914400" cy="384048"/>
          </a:xfrm>
          <a:prstGeom prst="roundRect">
            <a:avLst/>
          </a:prstGeom>
          <a:solidFill>
            <a:srgbClr val="DCE7ED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27523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868680" y="39776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DCE7ED"/>
          </a:solidFill>
          <a:ln w="12700">
            <a:solidFill>
              <a:srgbClr val="3F5C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33272" y="4142232"/>
            <a:ext cx="506577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performance can come from best-on-each-problem aggregation rather than one dependable assistant.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583680" y="1600200"/>
            <a:ext cx="4572000" cy="2834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 aggregate score may come from different systems succeeding on different problems.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not the same thing as having one system you can reliably work with.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pass@X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pic>
        <p:nvPicPr>
          <p:cNvPr id="5" name="Image 0" descr="/home/matt.linux/talks/2026/oregon/assets/raw-images/2407-fig7-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325880"/>
            <a:ext cx="585216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1325880"/>
            <a:ext cx="5852160" cy="3840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3720" y="1417320"/>
            <a:ext cx="443484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one allows many tries, success rates can rise dramatically.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eventual success after repeated sampling is not the same thing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system that is reliable on the first few serious attempts.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49808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3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1 - (1 - p)^X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seems to be improving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68680" y="1325880"/>
            <a:ext cx="690372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472184"/>
            <a:ext cx="6574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 AI Tier 4 leaderboard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Snapshot: March 9,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33272" y="203911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GPT-5.4 Pro (web)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776472" y="2057400"/>
            <a:ext cx="3154680" cy="201168"/>
          </a:xfrm>
          <a:prstGeom prst="roundRect">
            <a:avLst>
              <a:gd name="adj" fmla="val 13636"/>
            </a:avLst>
          </a:prstGeom>
          <a:solidFill>
            <a:srgbClr val="ECE7DC"/>
          </a:solidFill>
          <a:ln w="12700">
            <a:solidFill>
              <a:srgbClr val="ECE7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76472" y="2057400"/>
            <a:ext cx="3108960" cy="201168"/>
          </a:xfrm>
          <a:prstGeom prst="roundRect">
            <a:avLst>
              <a:gd name="adj" fmla="val 13636"/>
            </a:avLst>
          </a:prstGeom>
          <a:solidFill>
            <a:srgbClr val="3F5C6E"/>
          </a:solidFill>
          <a:ln w="12700">
            <a:solidFill>
              <a:srgbClr val="3F5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50024" y="203911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37.5%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33272" y="256946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 (Pro, Web App)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776472" y="2587752"/>
            <a:ext cx="3154680" cy="201168"/>
          </a:xfrm>
          <a:prstGeom prst="roundRect">
            <a:avLst>
              <a:gd name="adj" fmla="val 13636"/>
            </a:avLst>
          </a:prstGeom>
          <a:solidFill>
            <a:srgbClr val="ECE7DC"/>
          </a:solidFill>
          <a:ln w="12700">
            <a:solidFill>
              <a:srgbClr val="ECE7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76472" y="2587752"/>
            <a:ext cx="2594945" cy="201168"/>
          </a:xfrm>
          <a:prstGeom prst="roundRect">
            <a:avLst>
              <a:gd name="adj" fmla="val 13636"/>
            </a:avLst>
          </a:prstGeom>
          <a:solidFill>
            <a:srgbClr val="3F5C6E"/>
          </a:solidFill>
          <a:ln w="12700">
            <a:solidFill>
              <a:srgbClr val="3F5C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50024" y="256946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31.3%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33272" y="3099816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GPT-5.4 (xhigh)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776472" y="3118104"/>
            <a:ext cx="3154680" cy="201168"/>
          </a:xfrm>
          <a:prstGeom prst="roundRect">
            <a:avLst>
              <a:gd name="adj" fmla="val 13636"/>
            </a:avLst>
          </a:prstGeom>
          <a:solidFill>
            <a:srgbClr val="ECE7DC"/>
          </a:solidFill>
          <a:ln w="12700">
            <a:solidFill>
              <a:srgbClr val="ECE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76472" y="3118104"/>
            <a:ext cx="2246742" cy="201168"/>
          </a:xfrm>
          <a:prstGeom prst="roundRect">
            <a:avLst>
              <a:gd name="adj" fmla="val 13636"/>
            </a:avLst>
          </a:prstGeom>
          <a:solidFill>
            <a:srgbClr val="3F5C6E"/>
          </a:solidFill>
          <a:ln w="12700">
            <a:solidFill>
              <a:srgbClr val="3F5C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50024" y="30998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27.1%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33272" y="363016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4.6 (max)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776472" y="3648456"/>
            <a:ext cx="3154680" cy="201168"/>
          </a:xfrm>
          <a:prstGeom prst="roundRect">
            <a:avLst>
              <a:gd name="adj" fmla="val 13636"/>
            </a:avLst>
          </a:prstGeom>
          <a:solidFill>
            <a:srgbClr val="ECE7DC"/>
          </a:solidFill>
          <a:ln w="12700">
            <a:solidFill>
              <a:srgbClr val="ECE7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76472" y="3648456"/>
            <a:ext cx="1898538" cy="201168"/>
          </a:xfrm>
          <a:prstGeom prst="roundRect">
            <a:avLst>
              <a:gd name="adj" fmla="val 13636"/>
            </a:avLst>
          </a:prstGeom>
          <a:solidFill>
            <a:srgbClr val="3F5C6E"/>
          </a:solidFill>
          <a:ln w="12700">
            <a:solidFill>
              <a:srgbClr val="3F5C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0024" y="363016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22.9%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33272" y="416052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4.6 (64k thinking)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776472" y="4178808"/>
            <a:ext cx="3154680" cy="201168"/>
          </a:xfrm>
          <a:prstGeom prst="roundRect">
            <a:avLst>
              <a:gd name="adj" fmla="val 13636"/>
            </a:avLst>
          </a:prstGeom>
          <a:solidFill>
            <a:srgbClr val="ECE7DC"/>
          </a:solidFill>
          <a:ln w="12700">
            <a:solidFill>
              <a:srgbClr val="ECE7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76472" y="4178808"/>
            <a:ext cx="1724436" cy="201168"/>
          </a:xfrm>
          <a:prstGeom prst="roundRect">
            <a:avLst>
              <a:gd name="adj" fmla="val 13636"/>
            </a:avLst>
          </a:prstGeom>
          <a:solidFill>
            <a:srgbClr val="3F5C6E"/>
          </a:solidFill>
          <a:ln w="12700">
            <a:solidFill>
              <a:srgbClr val="3F5C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50024" y="416052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20.8%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33272" y="469087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 Pro Preview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776472" y="4709160"/>
            <a:ext cx="3154680" cy="201168"/>
          </a:xfrm>
          <a:prstGeom prst="roundRect">
            <a:avLst>
              <a:gd name="adj" fmla="val 13636"/>
            </a:avLst>
          </a:prstGeom>
          <a:solidFill>
            <a:srgbClr val="ECE7DC"/>
          </a:solidFill>
          <a:ln w="12700">
            <a:solidFill>
              <a:srgbClr val="ECE7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76472" y="4709160"/>
            <a:ext cx="1558625" cy="201168"/>
          </a:xfrm>
          <a:prstGeom prst="roundRect">
            <a:avLst>
              <a:gd name="adj" fmla="val 13636"/>
            </a:avLst>
          </a:prstGeom>
          <a:solidFill>
            <a:srgbClr val="3F5C6E"/>
          </a:solidFill>
          <a:ln w="12700">
            <a:solidFill>
              <a:srgbClr val="3F5C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50024" y="46908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18.8%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046720" y="1508760"/>
            <a:ext cx="320040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systems do seem to be getting better.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hard mathematical benchmarks, the trend is plainly upward.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much is real, even if it does not settle the question of trust.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is not reliability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489204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work argues that accuracy and reliability should be separated.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 can solve many tasks on average and still be an unreliable tool in practice.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for mathematics, we should ask not only how often a model succeeds,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how to benchmark reliability itself.</a:t>
            </a:r>
            <a:endParaRPr lang="en-US" sz="1800" dirty="0"/>
          </a:p>
        </p:txBody>
      </p:sp>
      <p:pic>
        <p:nvPicPr>
          <p:cNvPr id="6" name="Image 0" descr="/home/matt.linux/talks/2026/oregon/assets/raw-images/2602-fig1-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325880"/>
            <a:ext cx="5394960" cy="3886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1325880"/>
            <a:ext cx="5394960" cy="3886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8C4B7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would reliability mean in mathematics?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1965960" cy="804672"/>
          </a:xfrm>
          <a:prstGeom prst="roundRect">
            <a:avLst>
              <a:gd name="adj" fmla="val 9091"/>
            </a:avLst>
          </a:prstGeom>
          <a:solidFill>
            <a:srgbClr val="ECE7DC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221992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useful directions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07792" y="226771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46120" y="2057400"/>
            <a:ext cx="1965960" cy="804672"/>
          </a:xfrm>
          <a:prstGeom prst="roundRect">
            <a:avLst>
              <a:gd name="adj" fmla="val 9091"/>
            </a:avLst>
          </a:prstGeom>
          <a:solidFill>
            <a:srgbClr val="E7EEF2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2221992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definitions and assumptions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85232" y="226771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623560" y="2057400"/>
            <a:ext cx="1965960" cy="804672"/>
          </a:xfrm>
          <a:prstGeom prst="roundRect">
            <a:avLst>
              <a:gd name="adj" fmla="val 9091"/>
            </a:avLst>
          </a:prstGeom>
          <a:solidFill>
            <a:srgbClr val="ECE7DC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33288" y="2221992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in ways that are easy to detect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4206240"/>
            <a:ext cx="822960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reliable system would do more than occasionally produce correct answers.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would help us understand a problem efficiently,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 would fail in ways that do not quietly waste our time.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these systems fail?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68680" y="155448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ECE7DC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68249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False intermediate claims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3272" y="1993392"/>
            <a:ext cx="2157984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proof sketch can look coherent while relying on a false lemma.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547872" y="155448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E7EEF2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12464" y="168249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Invented references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12464" y="1993392"/>
            <a:ext cx="2157984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Citations and attributions are easy to fabricate and costly to verify.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155448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ECE7DC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1656" y="168249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Locally plausible steps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91656" y="1993392"/>
            <a:ext cx="2157984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step may look reasonable even when the full argument breaks.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906256" y="155448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E7EEF2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168249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Drift in assumptions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70848" y="1993392"/>
            <a:ext cx="2157984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and hypotheses can shift subtly as the solution unfolds.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60120" y="4480560"/>
            <a:ext cx="89611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failures are familiar by now.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not only that they occur,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that they can be expensive to detect when one does not already know the answer.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changes the picture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pic>
        <p:nvPicPr>
          <p:cNvPr id="5" name="Image 0" descr="/home/matt.linux/talks/2026/oregon/assets/raw-images/alphaevolve-fig1-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325880"/>
            <a:ext cx="557784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1325880"/>
            <a:ext cx="5577840" cy="3840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29400" y="1463040"/>
            <a:ext cx="4572000" cy="2834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impressive current systems do not ignore unreliability.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put generation inside a loop of testing, scoring, and selection.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AlphaEvolve is a good example of this.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AlphaEvolve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pic>
        <p:nvPicPr>
          <p:cNvPr id="5" name="Image 0" descr="/home/matt.linux/talks/2026/oregon/assets/raw-images/alphaevolve-fig5-1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325880"/>
            <a:ext cx="534924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1325880"/>
            <a:ext cx="5349240" cy="3840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46520" y="1463040"/>
            <a:ext cx="4800600" cy="2468880"/>
          </a:xfrm>
          <a:prstGeom prst="roundRect">
            <a:avLst>
              <a:gd name="adj" fmla="val 2963"/>
            </a:avLst>
          </a:prstGeom>
          <a:solidFill>
            <a:srgbClr val="E7EEF2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11112" y="1591056"/>
            <a:ext cx="4471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Highlights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11112" y="1901952"/>
            <a:ext cx="4471416" cy="1938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x 4 complex matrix multiplication in 48 scalar multiplications.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best known constructions on many mathematical problems.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prior state of the art on a meaningful subset.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537960" y="4251960"/>
            <a:ext cx="448056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larger lesson is that verification or testing can make these systems much more useful.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testing to proof checking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1965960" cy="804672"/>
          </a:xfrm>
          <a:prstGeom prst="roundRect">
            <a:avLst>
              <a:gd name="adj" fmla="val 9091"/>
            </a:avLst>
          </a:prstGeom>
          <a:solidFill>
            <a:srgbClr val="ECE7DC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221992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/ scoring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07792" y="226771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46120" y="2057400"/>
            <a:ext cx="1965960" cy="804672"/>
          </a:xfrm>
          <a:prstGeom prst="roundRect">
            <a:avLst>
              <a:gd name="adj" fmla="val 9091"/>
            </a:avLst>
          </a:prstGeom>
          <a:solidFill>
            <a:srgbClr val="E7EEF2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2221992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proof checking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4023360"/>
            <a:ext cx="804672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some problems, one can test candidate outputs.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mathematics, a deeper possibility is to check proofs themselves.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where formalization enters the picture.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Lean in one slide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463040"/>
            <a:ext cx="5074920" cy="3108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is a proof assistant in which definitions, statements, and proofs are formal objects.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ultimately matters is that a small trusted kernel checks the proof.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gives a much firmer notion of correctness than persuasive prose.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72200" y="1417320"/>
            <a:ext cx="5074920" cy="3246120"/>
          </a:xfrm>
          <a:prstGeom prst="roundRect">
            <a:avLst>
              <a:gd name="adj" fmla="val 1690"/>
            </a:avLst>
          </a:prstGeom>
          <a:solidFill>
            <a:srgbClr val="F1EEE5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8504" y="1545336"/>
            <a:ext cx="478231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D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theorem continuous_image_compact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{X Y : Type*} [TopologicalSpace X] [TopologicalSpace Y]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{s : Set X} (hs : IsCompact s) {f : X → Y} (hf : Continuous f) 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IsCompact (f '' s) := by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exact hs.image hf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48920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recognizable theorem, but stated with all ambient structure made explicit.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formalization gives you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68680" y="155448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ECE7DC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68249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Exact statements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3272" y="1993392"/>
            <a:ext cx="2157984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claim being checked must be written precisely enough for a machine.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547872" y="155448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E7EEF2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12464" y="168249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Exact dependencies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12464" y="1993392"/>
            <a:ext cx="2157984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objects, assumptions, and lemmas become explicit.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155448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ECE7DC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1656" y="168249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Machine-checked proofs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91656" y="1993392"/>
            <a:ext cx="2157984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Correctness no longer depends on rhetoric or reader confidence.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906256" y="155448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E7EEF2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168249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70848" y="1993392"/>
            <a:ext cx="2157984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 can be replayed and inspected later in the same environment.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60120" y="4526280"/>
            <a:ext cx="89611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burden shifts from judging prose to checking that the formal statement is the right one.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formalization does not give you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68680" y="1371600"/>
            <a:ext cx="5349240" cy="2011680"/>
          </a:xfrm>
          <a:prstGeom prst="roundRect">
            <a:avLst>
              <a:gd name="adj" fmla="val 2727"/>
            </a:avLst>
          </a:prstGeom>
          <a:solidFill>
            <a:srgbClr val="F1EEE5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1499616"/>
            <a:ext cx="505663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D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theorem MainTheorem 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SpherePackingConstant 24 = Dim24.LeechPacking.density 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∀ S : PeriodicSpherePacking 24,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S.density = Dim24.LeechPacking.density 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Dim24.IsometricToScaledLeech S := by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6576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7EEF2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3785616"/>
            <a:ext cx="5020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Informal translation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3272" y="4096512"/>
            <a:ext cx="5020056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dimension 24, the optimal density is the Leech lattice density, and any periodic packing of that density is the same up to scaling and isometry.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46520" y="1463040"/>
            <a:ext cx="4754880" cy="2743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verified proof is only as good as the statement that was formalized.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still has to check definitions, hypotheses, and the actual claim being proved.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syntax can obscure these things rather than clarify them.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528523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drawn from the public Sphere-Packing-Lean repository.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Autoformalization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1965960" cy="804672"/>
          </a:xfrm>
          <a:prstGeom prst="roundRect">
            <a:avLst>
              <a:gd name="adj" fmla="val 9091"/>
            </a:avLst>
          </a:prstGeom>
          <a:solidFill>
            <a:srgbClr val="ECE7DC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993392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informal mathematics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07792" y="203911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46120" y="1828800"/>
            <a:ext cx="1965960" cy="804672"/>
          </a:xfrm>
          <a:prstGeom prst="roundRect">
            <a:avLst>
              <a:gd name="adj" fmla="val 9091"/>
            </a:avLst>
          </a:prstGeom>
          <a:solidFill>
            <a:srgbClr val="E7EEF2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1993392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formalization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85232" y="203911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623560" y="1828800"/>
            <a:ext cx="1965960" cy="804672"/>
          </a:xfrm>
          <a:prstGeom prst="roundRect">
            <a:avLst>
              <a:gd name="adj" fmla="val 9091"/>
            </a:avLst>
          </a:prstGeom>
          <a:solidFill>
            <a:srgbClr val="ECE7DC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33288" y="1993392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checking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62672" y="203911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01000" y="1828800"/>
            <a:ext cx="1965960" cy="804672"/>
          </a:xfrm>
          <a:prstGeom prst="roundRect">
            <a:avLst>
              <a:gd name="adj" fmla="val 9091"/>
            </a:avLst>
          </a:prstGeom>
          <a:solidFill>
            <a:srgbClr val="E7EEF2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0728" y="1993392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/ revision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3977640"/>
            <a:ext cx="841248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Autoformalization tries to move from ordinary mathematical language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machine-checkable statements and proofs.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remove the need for human judgment,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it changes where that judgment is applied.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Urban and Megalodon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pic>
        <p:nvPicPr>
          <p:cNvPr id="5" name="Image 0" descr="/home/matt.linux/talks/2026/oregon/assets/raw-images/urban-paper-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325880"/>
            <a:ext cx="54864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1325880"/>
            <a:ext cx="5486400" cy="3840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0" y="1463040"/>
            <a:ext cx="4617720" cy="2743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one of the clearest recent demonstrations of serious autoformalization.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 is no longer merely aspirational.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models can now support a substantial formalization loop.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52852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Josef Urban, “130k Lines of Formal Topology in Two Weeks”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Gauss and sphere packing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pic>
        <p:nvPicPr>
          <p:cNvPr id="5" name="Image 0" descr="/home/matt.linux/talks/2026/oregon/assets/raw-images/math-inc-sphere-packing-o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325880"/>
            <a:ext cx="54864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1325880"/>
            <a:ext cx="5486400" cy="3840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0" y="1463040"/>
            <a:ext cx="4617720" cy="2743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examples are striking because they are mathematically recognizable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because the outputs are not just prose but formal artifacts.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make the promise of autoformalization more concrete.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528523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Math, Inc.: formal verification of sphere packing in dimensions 8 and 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Much more is happening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pic>
        <p:nvPicPr>
          <p:cNvPr id="5" name="Image 0" descr="/home/matt.linux/talks/2026/oregon/assets/raw-images/m2f-fig1-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508760"/>
            <a:ext cx="3474720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1508760"/>
            <a:ext cx="3474720" cy="2286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8C4B7"/>
            </a:solidFill>
            <a:prstDash val="solid"/>
          </a:ln>
        </p:spPr>
      </p:sp>
      <p:pic>
        <p:nvPicPr>
          <p:cNvPr id="7" name="Image 1" descr="/home/matt.linux/talks/2026/oregon/assets/raw-images/archon-firstproof-og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53712" y="1508760"/>
            <a:ext cx="3474720" cy="2286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53712" y="1508760"/>
            <a:ext cx="3474720" cy="2286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247888" y="150876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ECE7DC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412480" y="1636776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broader point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412480" y="1947672"/>
            <a:ext cx="2368296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 is no longer one isolated demo.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now several overlapping styles of verifier-in-the-loop formalization work.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960120" y="4343400"/>
            <a:ext cx="804672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not isolated examples.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several groups, the pace of progress this year has been unusually fast.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Claude Code moment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E7EEF2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545336"/>
            <a:ext cx="4654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3272" y="1856232"/>
            <a:ext cx="4654296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Off-the-shelf coding agents became good enough to sustain a real edit / run / repair loop.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4846320" cy="2423160"/>
          </a:xfrm>
          <a:prstGeom prst="roundRect">
            <a:avLst>
              <a:gd name="adj" fmla="val 3019"/>
            </a:avLst>
          </a:prstGeom>
          <a:solidFill>
            <a:srgbClr val="E7EEF2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545336"/>
            <a:ext cx="4517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Threshold claim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65392" y="1856232"/>
            <a:ext cx="4517136" cy="1892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coding-oriented models made these workflows much more accessible in practice.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no longer needs a highly specialized system to begin trying serious experiments.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8680" y="3931920"/>
            <a:ext cx="1965960" cy="804672"/>
          </a:xfrm>
          <a:prstGeom prst="roundRect">
            <a:avLst>
              <a:gd name="adj" fmla="val 9091"/>
            </a:avLst>
          </a:prstGeom>
          <a:solidFill>
            <a:srgbClr val="ECE7DC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4096512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off-the-shelf model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07792" y="414223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246120" y="3931920"/>
            <a:ext cx="1965960" cy="804672"/>
          </a:xfrm>
          <a:prstGeom prst="roundRect">
            <a:avLst>
              <a:gd name="adj" fmla="val 9091"/>
            </a:avLst>
          </a:prstGeom>
          <a:solidFill>
            <a:srgbClr val="E7EEF2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4096512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/ run loop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85232" y="414223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623560" y="3931920"/>
            <a:ext cx="1965960" cy="804672"/>
          </a:xfrm>
          <a:prstGeom prst="roundRect">
            <a:avLst>
              <a:gd name="adj" fmla="val 9091"/>
            </a:avLst>
          </a:prstGeom>
          <a:solidFill>
            <a:srgbClr val="ECE7DC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33288" y="4096512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feedback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62672" y="414223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001000" y="3931920"/>
            <a:ext cx="1965960" cy="804672"/>
          </a:xfrm>
          <a:prstGeom prst="roundRect">
            <a:avLst>
              <a:gd name="adj" fmla="val 9091"/>
            </a:avLst>
          </a:prstGeom>
          <a:solidFill>
            <a:srgbClr val="E7EEF2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0728" y="4096512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repair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3246120"/>
            <a:ext cx="530352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Urban-style experiments suddenly became plausible for ordinary users.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Serre duality: a personal experiment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896112"/>
            <a:ext cx="10835640" cy="0"/>
          </a:xfrm>
          <a:prstGeom prst="line">
            <a:avLst/>
          </a:prstGeom>
          <a:noFill/>
          <a:ln w="12700">
            <a:solidFill>
              <a:srgbClr val="C8C4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75720" y="6419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68680" y="1325880"/>
            <a:ext cx="5806440" cy="3703320"/>
          </a:xfrm>
          <a:prstGeom prst="roundRect">
            <a:avLst/>
          </a:prstGeom>
          <a:solidFill>
            <a:srgbClr val="E7EEF2"/>
          </a:solidFill>
          <a:ln w="12700">
            <a:solidFill>
              <a:srgbClr val="C8C4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527048"/>
            <a:ext cx="5477256" cy="33009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 from the Serre duality experiment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03720" y="1463040"/>
            <a:ext cx="4297680" cy="2743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my own experiment, this kind of workflow was strong enough to be genuinely useful.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point was not that the system could simply be trusted.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point was that it could help produce formal mathematics that could then be checked.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5349240"/>
            <a:ext cx="10378440" cy="822960"/>
          </a:xfrm>
          <a:prstGeom prst="roundRect">
            <a:avLst>
              <a:gd name="adj" fmla="val 8889"/>
            </a:avLst>
          </a:prstGeom>
          <a:solidFill>
            <a:srgbClr val="DCE7ED"/>
          </a:solidFill>
          <a:ln w="12700">
            <a:solidFill>
              <a:srgbClr val="3F5C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5513832"/>
            <a:ext cx="1004925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1D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ask whether one should trust an AI mathematician, my answer is no, not in the ordinary sense. But one can increasingly trust a workflow in which generation is coupled to real verification.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Trust an AI Mathematician?</dc:title>
  <dc:subject>Math department colloquium deck skeleton</dc:subject>
  <dc:creator>OpenAI Codex</dc:creator>
  <cp:lastModifiedBy>OpenAI Codex</cp:lastModifiedBy>
  <cp:revision>1</cp:revision>
  <dcterms:created xsi:type="dcterms:W3CDTF">2026-03-09T11:43:17Z</dcterms:created>
  <dcterms:modified xsi:type="dcterms:W3CDTF">2026-03-09T11:43:17Z</dcterms:modified>
</cp:coreProperties>
</file>