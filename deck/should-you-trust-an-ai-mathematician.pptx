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1920240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Should You Trust an AI Mathematician?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880360" y="2779776"/>
            <a:ext cx="640080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0" y="2962656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/ affiliation / venue / date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Capability and trust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" y="1371600"/>
            <a:ext cx="7406640" cy="2560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systems are much stronger at mathematics than they were even a year ago.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now perform impressively on demanding benchmarks.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capability and trust are not the same question.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ask this now?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" y="1371600"/>
            <a:ext cx="8046720" cy="2743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results in mathematics are improving quickly.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are also beginning to contribute, at least in limited ways, to research-level work.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question is no longer speculative.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68680" y="5074920"/>
            <a:ext cx="6035040" cy="822960"/>
          </a:xfrm>
          <a:prstGeom prst="roundRect">
            <a:avLst>
              <a:gd name="adj" fmla="val 8889"/>
            </a:avLst>
          </a:prstGeom>
          <a:solidFill>
            <a:srgbClr val="DCE7ED"/>
          </a:solidFill>
          <a:ln w="12700">
            <a:solidFill>
              <a:srgbClr val="3F5C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5239512"/>
            <a:ext cx="5705856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concrete examples here: one benchmark example and one research-adjacent example.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question for working mathematicians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" y="1417320"/>
            <a:ext cx="8138160" cy="2743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working mathematician, the issue is practical rather than philosophical: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 do not know the answer, can this help me without wasting time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creating false confidence?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should we judge them?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417320"/>
            <a:ext cx="4754880" cy="2743200"/>
          </a:xfrm>
          <a:prstGeom prst="roundRect">
            <a:avLst>
              <a:gd name="adj" fmla="val 2667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545336"/>
            <a:ext cx="4425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Benchmarks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33272" y="1856232"/>
            <a:ext cx="4425696" cy="22128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us what these systems can sometimes do under controlled conditions.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806440" y="1417320"/>
            <a:ext cx="4754880" cy="2743200"/>
          </a:xfrm>
          <a:prstGeom prst="roundRect">
            <a:avLst>
              <a:gd name="adj" fmla="val 2667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71032" y="1545336"/>
            <a:ext cx="4425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own experiments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71032" y="1856232"/>
            <a:ext cx="4425696" cy="22128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us how they behave in actual mathematical work.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68680" y="4709160"/>
            <a:ext cx="40233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need both kinds of evidence.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benchmarks tell us, and what they do not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417320"/>
            <a:ext cx="4709160" cy="2971800"/>
          </a:xfrm>
          <a:prstGeom prst="roundRect">
            <a:avLst>
              <a:gd name="adj" fmla="val 2462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545336"/>
            <a:ext cx="4379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do tell us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33272" y="1856232"/>
            <a:ext cx="4379976" cy="24414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measure difficult problem-solving under fixed conditions.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760720" y="1417320"/>
            <a:ext cx="4800600" cy="2971800"/>
          </a:xfrm>
          <a:prstGeom prst="roundRect">
            <a:avLst>
              <a:gd name="adj" fmla="val 2462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25312" y="1545336"/>
            <a:ext cx="4471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do not tell us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25312" y="1856232"/>
            <a:ext cx="4471416" cy="24414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Whether these systems can efficiently contribute to our understanding of mathematical problems.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68680" y="4773168"/>
            <a:ext cx="594360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the question mathematicians actually care about.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recent tests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/home/matt.linux/talks/2026/oregon/assets/raw-images/archon-firstproof-o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417320"/>
            <a:ext cx="4709160" cy="3154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8680" y="1417320"/>
            <a:ext cx="4709160" cy="3154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8C4B7"/>
            </a:solidFill>
            <a:prstDash val="solid"/>
          </a:ln>
        </p:spPr>
      </p:sp>
      <p:pic>
        <p:nvPicPr>
          <p:cNvPr id="7" name="Image 1" descr="/home/matt.linux/talks/2026/oregon/assets/raw-images/frontiermath-banne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760720" y="1417320"/>
            <a:ext cx="4800600" cy="31546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760720" y="1417320"/>
            <a:ext cx="4800600" cy="3154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68680" y="4846320"/>
            <a:ext cx="777240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examples ask rather different questions.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they give a useful picture of recent progress.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Proof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pic>
        <p:nvPicPr>
          <p:cNvPr id="5" name="Image 0" descr="/home/matt.linux/talks/2026/oregon/assets/raw-images/archon-firstproof-o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325880"/>
            <a:ext cx="5486400" cy="3840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8680" y="1325880"/>
            <a:ext cx="5486400" cy="38404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75120" y="1417320"/>
            <a:ext cx="4572000" cy="3291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Proof evaluates olympiad-style proof generation.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still an artificial setting, but it is at least recognizable mathematics.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asks for sustained reasoning, not just short-answer pattern matching.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FrontierMath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pic>
        <p:nvPicPr>
          <p:cNvPr id="5" name="Image 0" descr="/home/matt.linux/talks/2026/oregon/assets/raw-images/frontiermath-bann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325880"/>
            <a:ext cx="5486400" cy="3840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8680" y="1325880"/>
            <a:ext cx="5486400" cy="38404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75120" y="1417320"/>
            <a:ext cx="4572000" cy="3291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FrontierMath was designed to probe much harder mathematics.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harder tiers aim beyond standard benchmark questions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are meant to resist superficial pattern matching.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 score can hide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331720" y="132588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0" y="132588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983480" y="132588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09360" y="132588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181051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340864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B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2871216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C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331720" y="1645920"/>
            <a:ext cx="914400" cy="384048"/>
          </a:xfrm>
          <a:prstGeom prst="roundRect">
            <a:avLst/>
          </a:prstGeom>
          <a:solidFill>
            <a:srgbClr val="DCE7ED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16916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3657600" y="1645920"/>
            <a:ext cx="914400" cy="384048"/>
          </a:xfrm>
          <a:prstGeom prst="roundRect">
            <a:avLst/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16916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983480" y="1645920"/>
            <a:ext cx="914400" cy="384048"/>
          </a:xfrm>
          <a:prstGeom prst="roundRect">
            <a:avLst/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83480" y="16916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09360" y="1645920"/>
            <a:ext cx="914400" cy="384048"/>
          </a:xfrm>
          <a:prstGeom prst="roundRect">
            <a:avLst/>
          </a:prstGeom>
          <a:solidFill>
            <a:srgbClr val="DCE7ED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16916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2331720" y="2176272"/>
            <a:ext cx="914400" cy="384048"/>
          </a:xfrm>
          <a:prstGeom prst="roundRect">
            <a:avLst/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331720" y="222199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3657600" y="2176272"/>
            <a:ext cx="914400" cy="384048"/>
          </a:xfrm>
          <a:prstGeom prst="roundRect">
            <a:avLst/>
          </a:prstGeom>
          <a:solidFill>
            <a:srgbClr val="DCE7ED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0" y="222199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4983480" y="2176272"/>
            <a:ext cx="914400" cy="384048"/>
          </a:xfrm>
          <a:prstGeom prst="roundRect">
            <a:avLst/>
          </a:prstGeom>
          <a:solidFill>
            <a:srgbClr val="DCE7ED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83480" y="222199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309360" y="2176272"/>
            <a:ext cx="914400" cy="384048"/>
          </a:xfrm>
          <a:prstGeom prst="roundRect">
            <a:avLst/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0" y="222199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2331720" y="2706624"/>
            <a:ext cx="914400" cy="384048"/>
          </a:xfrm>
          <a:prstGeom prst="roundRect">
            <a:avLst/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31720" y="275234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3657600" y="2706624"/>
            <a:ext cx="914400" cy="384048"/>
          </a:xfrm>
          <a:prstGeom prst="roundRect">
            <a:avLst/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0" y="275234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4983480" y="2706624"/>
            <a:ext cx="914400" cy="384048"/>
          </a:xfrm>
          <a:prstGeom prst="roundRect">
            <a:avLst/>
          </a:prstGeom>
          <a:solidFill>
            <a:srgbClr val="DCE7ED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83480" y="275234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6309360" y="2706624"/>
            <a:ext cx="914400" cy="384048"/>
          </a:xfrm>
          <a:prstGeom prst="roundRect">
            <a:avLst/>
          </a:prstGeom>
          <a:solidFill>
            <a:srgbClr val="DCE7ED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09360" y="275234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868680" y="397764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DCE7ED"/>
          </a:solidFill>
          <a:ln w="12700">
            <a:solidFill>
              <a:srgbClr val="3F5C6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33272" y="4142232"/>
            <a:ext cx="5065776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Headline performance can come from best-on-each-problem aggregation rather than one dependable assistant.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6583680" y="1600200"/>
            <a:ext cx="4572000" cy="2834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strong aggregate score may come from different systems succeeding on different problems.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not the same thing as having one system you can reliably work with.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pass@X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pic>
        <p:nvPicPr>
          <p:cNvPr id="5" name="Image 0" descr="/home/matt.linux/talks/2026/oregon/assets/raw-images/2407-fig7-1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325880"/>
            <a:ext cx="5852160" cy="3840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8680" y="1325880"/>
            <a:ext cx="5852160" cy="38404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903720" y="1417320"/>
            <a:ext cx="4434840" cy="2468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one allows many tries, success rates can rise dramatically.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eventual success after repeated sampling is not the same thing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system that is reliable on the first few serious attempts.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498080" y="4160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1 - (1 - p)^X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seems to be improving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325880"/>
            <a:ext cx="6903720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472184"/>
            <a:ext cx="6574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 Tier 4 leaderboard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Snapshot: March 9,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33272" y="2039112"/>
            <a:ext cx="2697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GPT-5.4 Pro (web)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776472" y="2057400"/>
            <a:ext cx="3154680" cy="201168"/>
          </a:xfrm>
          <a:prstGeom prst="roundRect">
            <a:avLst>
              <a:gd name="adj" fmla="val 13636"/>
            </a:avLst>
          </a:prstGeom>
          <a:solidFill>
            <a:srgbClr val="ECE7DC"/>
          </a:solidFill>
          <a:ln w="12700">
            <a:solidFill>
              <a:srgbClr val="ECE7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76472" y="2057400"/>
            <a:ext cx="3108960" cy="201168"/>
          </a:xfrm>
          <a:prstGeom prst="roundRect">
            <a:avLst>
              <a:gd name="adj" fmla="val 13636"/>
            </a:avLst>
          </a:prstGeom>
          <a:solidFill>
            <a:srgbClr val="3F5C6E"/>
          </a:solidFill>
          <a:ln w="12700">
            <a:solidFill>
              <a:srgbClr val="3F5C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50024" y="203911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37.5%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33272" y="2569464"/>
            <a:ext cx="2697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GPT-5.2 (Pro, Web App)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776472" y="2587752"/>
            <a:ext cx="3154680" cy="201168"/>
          </a:xfrm>
          <a:prstGeom prst="roundRect">
            <a:avLst>
              <a:gd name="adj" fmla="val 13636"/>
            </a:avLst>
          </a:prstGeom>
          <a:solidFill>
            <a:srgbClr val="ECE7DC"/>
          </a:solidFill>
          <a:ln w="12700">
            <a:solidFill>
              <a:srgbClr val="ECE7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76472" y="2587752"/>
            <a:ext cx="2594945" cy="201168"/>
          </a:xfrm>
          <a:prstGeom prst="roundRect">
            <a:avLst>
              <a:gd name="adj" fmla="val 13636"/>
            </a:avLst>
          </a:prstGeom>
          <a:solidFill>
            <a:srgbClr val="3F5C6E"/>
          </a:solidFill>
          <a:ln w="12700">
            <a:solidFill>
              <a:srgbClr val="3F5C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50024" y="2569464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31.3%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033272" y="3099816"/>
            <a:ext cx="2697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GPT-5.4 (xhigh)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776472" y="3118104"/>
            <a:ext cx="3154680" cy="201168"/>
          </a:xfrm>
          <a:prstGeom prst="roundRect">
            <a:avLst>
              <a:gd name="adj" fmla="val 13636"/>
            </a:avLst>
          </a:prstGeom>
          <a:solidFill>
            <a:srgbClr val="ECE7DC"/>
          </a:solidFill>
          <a:ln w="12700">
            <a:solidFill>
              <a:srgbClr val="ECE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776472" y="3118104"/>
            <a:ext cx="2246742" cy="201168"/>
          </a:xfrm>
          <a:prstGeom prst="roundRect">
            <a:avLst>
              <a:gd name="adj" fmla="val 13636"/>
            </a:avLst>
          </a:prstGeom>
          <a:solidFill>
            <a:srgbClr val="3F5C6E"/>
          </a:solidFill>
          <a:ln w="12700">
            <a:solidFill>
              <a:srgbClr val="3F5C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50024" y="3099816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27.1%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033272" y="3630168"/>
            <a:ext cx="2697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4.6 (max)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776472" y="3648456"/>
            <a:ext cx="3154680" cy="201168"/>
          </a:xfrm>
          <a:prstGeom prst="roundRect">
            <a:avLst>
              <a:gd name="adj" fmla="val 13636"/>
            </a:avLst>
          </a:prstGeom>
          <a:solidFill>
            <a:srgbClr val="ECE7DC"/>
          </a:solidFill>
          <a:ln w="12700">
            <a:solidFill>
              <a:srgbClr val="ECE7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76472" y="3648456"/>
            <a:ext cx="1898538" cy="201168"/>
          </a:xfrm>
          <a:prstGeom prst="roundRect">
            <a:avLst>
              <a:gd name="adj" fmla="val 13636"/>
            </a:avLst>
          </a:prstGeom>
          <a:solidFill>
            <a:srgbClr val="3F5C6E"/>
          </a:solidFill>
          <a:ln w="12700">
            <a:solidFill>
              <a:srgbClr val="3F5C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50024" y="363016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22.9%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033272" y="4160520"/>
            <a:ext cx="2697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4.6 (64k thinking)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776472" y="4178808"/>
            <a:ext cx="3154680" cy="201168"/>
          </a:xfrm>
          <a:prstGeom prst="roundRect">
            <a:avLst>
              <a:gd name="adj" fmla="val 13636"/>
            </a:avLst>
          </a:prstGeom>
          <a:solidFill>
            <a:srgbClr val="ECE7DC"/>
          </a:solidFill>
          <a:ln w="12700">
            <a:solidFill>
              <a:srgbClr val="ECE7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76472" y="4178808"/>
            <a:ext cx="1724436" cy="201168"/>
          </a:xfrm>
          <a:prstGeom prst="roundRect">
            <a:avLst>
              <a:gd name="adj" fmla="val 13636"/>
            </a:avLst>
          </a:prstGeom>
          <a:solidFill>
            <a:srgbClr val="3F5C6E"/>
          </a:solidFill>
          <a:ln w="12700">
            <a:solidFill>
              <a:srgbClr val="3F5C6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50024" y="416052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20.8%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33272" y="4690872"/>
            <a:ext cx="2697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3 Pro Preview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3776472" y="4709160"/>
            <a:ext cx="3154680" cy="201168"/>
          </a:xfrm>
          <a:prstGeom prst="roundRect">
            <a:avLst>
              <a:gd name="adj" fmla="val 13636"/>
            </a:avLst>
          </a:prstGeom>
          <a:solidFill>
            <a:srgbClr val="ECE7DC"/>
          </a:solidFill>
          <a:ln w="12700">
            <a:solidFill>
              <a:srgbClr val="ECE7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76472" y="4709160"/>
            <a:ext cx="1558625" cy="201168"/>
          </a:xfrm>
          <a:prstGeom prst="roundRect">
            <a:avLst>
              <a:gd name="adj" fmla="val 13636"/>
            </a:avLst>
          </a:prstGeom>
          <a:solidFill>
            <a:srgbClr val="3F5C6E"/>
          </a:solidFill>
          <a:ln w="12700">
            <a:solidFill>
              <a:srgbClr val="3F5C6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50024" y="46908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18.8%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046720" y="1508760"/>
            <a:ext cx="3200400" cy="2560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systems do seem to be getting better.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hard mathematical benchmarks, the trend is plainly upward.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much is real, even if it does not settle the question of trust.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Capability is not reliability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" y="1417320"/>
            <a:ext cx="4892040" cy="34747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work argues that accuracy and reliability should be separated.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system can solve many tasks on average and still be an unreliable tool in practice.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for mathematics, we should ask not only how often a model succeeds,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how to benchmark reliability itself.</a:t>
            </a:r>
            <a:endParaRPr lang="en-US" sz="1800" dirty="0"/>
          </a:p>
        </p:txBody>
      </p:sp>
      <p:pic>
        <p:nvPicPr>
          <p:cNvPr id="6" name="Image 0" descr="/home/matt.linux/talks/2026/oregon/assets/raw-images/2602-fig1-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89320" y="1325880"/>
            <a:ext cx="5394960" cy="3886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89320" y="1325880"/>
            <a:ext cx="5394960" cy="3886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8C4B7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would reliability mean in mathematics?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205740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222199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suggests useful directions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907792" y="226771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246120" y="205740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55848" y="222199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preserves definitions and assumptions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285232" y="226771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623560" y="205740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33288" y="222199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fails in ways that are easy to detect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8680" y="4206240"/>
            <a:ext cx="8229600" cy="12801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reliable system would do more than occasionally produce correct answers.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would help us understand a problem efficiently,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it would fail in ways that do not quietly waste our time.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do these systems fail?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554480"/>
            <a:ext cx="2487168" cy="1371600"/>
          </a:xfrm>
          <a:prstGeom prst="roundRect">
            <a:avLst>
              <a:gd name="adj" fmla="val 5333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682496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False intermediate claims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33272" y="1993392"/>
            <a:ext cx="2157984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proof sketch can look coherent while relying on a false lemma.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547872" y="1554480"/>
            <a:ext cx="2487168" cy="1371600"/>
          </a:xfrm>
          <a:prstGeom prst="roundRect">
            <a:avLst>
              <a:gd name="adj" fmla="val 5333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12464" y="1682496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Invented references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712464" y="1993392"/>
            <a:ext cx="2157984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Citations and attributions are easy to fabricate and costly to verify.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27064" y="1554480"/>
            <a:ext cx="2487168" cy="1371600"/>
          </a:xfrm>
          <a:prstGeom prst="roundRect">
            <a:avLst>
              <a:gd name="adj" fmla="val 5333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91656" y="1682496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Locally plausible steps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91656" y="1993392"/>
            <a:ext cx="2157984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step may look reasonable even when the full argument breaks.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906256" y="1554480"/>
            <a:ext cx="2487168" cy="1371600"/>
          </a:xfrm>
          <a:prstGeom prst="roundRect">
            <a:avLst>
              <a:gd name="adj" fmla="val 5333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70848" y="1682496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Drift in assumptions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070848" y="1993392"/>
            <a:ext cx="2157984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Definitions and hypotheses can shift subtly as the solution unfolds.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60120" y="4480560"/>
            <a:ext cx="896112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failures are familiar by now.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is not only that they occur,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that they can be expensive to detect when one does not already know the answer.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Verification changes the picture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pic>
        <p:nvPicPr>
          <p:cNvPr id="5" name="Image 0" descr="/home/matt.linux/talks/2026/oregon/assets/raw-images/alphaevolve-fig1-0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325880"/>
            <a:ext cx="5577840" cy="3840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8680" y="1325880"/>
            <a:ext cx="5577840" cy="38404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29400" y="1463040"/>
            <a:ext cx="4572000" cy="2834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impressive current systems do not ignore unreliability.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put generation inside a loop of testing, scoring, and selection.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AlphaEvolve is a good example of this.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AlphaEvolve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pic>
        <p:nvPicPr>
          <p:cNvPr id="5" name="Image 0" descr="/home/matt.linux/talks/2026/oregon/assets/raw-images/alphaevolve-fig5-1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325880"/>
            <a:ext cx="5349240" cy="3840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8680" y="1325880"/>
            <a:ext cx="5349240" cy="38404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46520" y="1463040"/>
            <a:ext cx="4800600" cy="2468880"/>
          </a:xfrm>
          <a:prstGeom prst="roundRect">
            <a:avLst>
              <a:gd name="adj" fmla="val 2963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11112" y="1591056"/>
            <a:ext cx="4471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Highlights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611112" y="1901952"/>
            <a:ext cx="4471416" cy="19385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x 4 complex matrix multiplication in 48 scalar multiplications.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Matched best known constructions on many mathematical problems.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Improved prior state of the art on a meaningful subset.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537960" y="4251960"/>
            <a:ext cx="4480560" cy="822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larger lesson is that verification or testing can make these systems much more useful.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testing to proof checking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205740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222199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/ scoring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907792" y="226771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246120" y="205740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55848" y="222199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proof checking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4023360"/>
            <a:ext cx="8046720" cy="11887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some problems, one can test candidate outputs.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mathematics, a deeper possibility is to check proofs themselves.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where formalization enters the picture.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Lean in one slide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" y="1463040"/>
            <a:ext cx="5074920" cy="3108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 is a proof assistant in which definitions, statements, and proofs are formal objects.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ultimately matters is that a small trusted kernel checks the proof.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gives a much firmer notion of correctness than persuasive prose.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172200" y="1417320"/>
            <a:ext cx="5074920" cy="3246120"/>
          </a:xfrm>
          <a:prstGeom prst="roundRect">
            <a:avLst>
              <a:gd name="adj" fmla="val 1690"/>
            </a:avLst>
          </a:prstGeom>
          <a:solidFill>
            <a:srgbClr val="F1EEE5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8504" y="1545336"/>
            <a:ext cx="478231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D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theorem continuous_image_compact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{X Y : Type*} [TopologicalSpace X] [TopologicalSpace Y]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{s : Set X} (hs : IsCompact s) {f : X → Y} (hf : Continuous f) 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IsCompact (f '' s) := by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exact hs.image hf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48920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recognizable theorem, but stated with all ambient structure made explicit.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formalization gives you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554480"/>
            <a:ext cx="2487168" cy="1371600"/>
          </a:xfrm>
          <a:prstGeom prst="roundRect">
            <a:avLst>
              <a:gd name="adj" fmla="val 5333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682496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Exact statements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33272" y="1993392"/>
            <a:ext cx="2157984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claim being checked must be written precisely enough for a machine.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547872" y="1554480"/>
            <a:ext cx="2487168" cy="1371600"/>
          </a:xfrm>
          <a:prstGeom prst="roundRect">
            <a:avLst>
              <a:gd name="adj" fmla="val 5333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12464" y="1682496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Exact dependencies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712464" y="1993392"/>
            <a:ext cx="2157984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objects, assumptions, and lemmas become explicit.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27064" y="1554480"/>
            <a:ext cx="2487168" cy="1371600"/>
          </a:xfrm>
          <a:prstGeom prst="roundRect">
            <a:avLst>
              <a:gd name="adj" fmla="val 5333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91656" y="1682496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Machine-checked proofs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91656" y="1993392"/>
            <a:ext cx="2157984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Correctness no longer depends on rhetoric or reader confidence.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906256" y="1554480"/>
            <a:ext cx="2487168" cy="1371600"/>
          </a:xfrm>
          <a:prstGeom prst="roundRect">
            <a:avLst>
              <a:gd name="adj" fmla="val 5333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70848" y="1682496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Reproducibility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070848" y="1993392"/>
            <a:ext cx="2157984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proof can be replayed and inspected later in the same environment.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60120" y="4526280"/>
            <a:ext cx="896112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burden shifts from judging prose to checking that the formal statement is the right one.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formalization does not give you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325880"/>
            <a:ext cx="5349240" cy="3886200"/>
          </a:xfrm>
          <a:prstGeom prst="roundRect">
            <a:avLst/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527048"/>
            <a:ext cx="5020056" cy="348386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formal statement / definition example whose syntax obscures its meaning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46520" y="1463040"/>
            <a:ext cx="4754880" cy="2743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verified proof is only as good as the statement that was formalized.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still has to check definitions, hypotheses, and the actual claim being proved.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syntax can obscure these things rather than clarify them.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Autoformalization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82880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199339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informal mathematics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907792" y="203911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246120" y="182880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55848" y="199339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formalization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285232" y="203911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623560" y="182880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33288" y="199339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checking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662672" y="203911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001000" y="182880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10728" y="199339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/ revision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" y="3977640"/>
            <a:ext cx="841248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Autoformalization tries to move from ordinary mathematical language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machine-checkable statements and proofs.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 not remove the need for human judgment,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it changes where that judgment is applied.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Urban and Megalodon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  <p:pic>
        <p:nvPicPr>
          <p:cNvPr id="5" name="Image 0" descr="/home/matt.linux/talks/2026/oregon/assets/raw-images/urban-paper-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325880"/>
            <a:ext cx="5486400" cy="3840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8680" y="1325880"/>
            <a:ext cx="5486400" cy="38404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0" y="1463040"/>
            <a:ext cx="4617720" cy="2743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one of the clearest recent demonstrations of serious autoformalization.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workflow is no longer merely aspirational.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models can now support a substantial formalization loop.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68680" y="5285232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Josef Urban, “130k Lines of Formal Topology in Two Weeks”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Gauss and sphere packing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  <p:pic>
        <p:nvPicPr>
          <p:cNvPr id="5" name="Image 0" descr="/home/matt.linux/talks/2026/oregon/assets/raw-images/math-inc-sphere-packing-o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325880"/>
            <a:ext cx="5486400" cy="3840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8680" y="1325880"/>
            <a:ext cx="5486400" cy="38404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0" y="1463040"/>
            <a:ext cx="4617720" cy="2743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examples are striking because they are mathematically recognizable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because the outputs are not just prose but formal artifacts.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make the promise of autoformalization more concrete.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68680" y="5285232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Math, Inc.: formal verification of sphere packing in dimensions 8 and 24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Much more is happening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  <p:pic>
        <p:nvPicPr>
          <p:cNvPr id="5" name="Image 0" descr="/home/matt.linux/talks/2026/oregon/assets/raw-images/m2f-fig1-0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508760"/>
            <a:ext cx="3474720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8680" y="1508760"/>
            <a:ext cx="347472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8C4B7"/>
            </a:solidFill>
            <a:prstDash val="solid"/>
          </a:ln>
        </p:spPr>
      </p:sp>
      <p:pic>
        <p:nvPicPr>
          <p:cNvPr id="7" name="Image 1" descr="/home/matt.linux/talks/2026/oregon/assets/raw-images/archon-firstproof-o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53712" y="1508760"/>
            <a:ext cx="3474720" cy="22860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553712" y="1508760"/>
            <a:ext cx="347472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247888" y="1508760"/>
            <a:ext cx="2697480" cy="2286000"/>
          </a:xfrm>
          <a:prstGeom prst="roundRect">
            <a:avLst>
              <a:gd name="adj" fmla="val 3200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412480" y="1636776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broader point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8412480" y="1947672"/>
            <a:ext cx="2368296" cy="17556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 is no longer one isolated demo.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are now several overlapping styles of verifier-in-the-loop formalization work.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960120" y="4343400"/>
            <a:ext cx="804672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are not isolated examples.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several groups, the pace of progress this year has been unusually fast.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Claude Code moment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417320"/>
            <a:ext cx="4983480" cy="1417320"/>
          </a:xfrm>
          <a:prstGeom prst="roundRect">
            <a:avLst>
              <a:gd name="adj" fmla="val 5161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545336"/>
            <a:ext cx="4654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changed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33272" y="1856232"/>
            <a:ext cx="4654296" cy="8869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Off-the-shelf coding agents became good enough to sustain a real edit / run / repair loop.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0" y="1417320"/>
            <a:ext cx="4846320" cy="2423160"/>
          </a:xfrm>
          <a:prstGeom prst="roundRect">
            <a:avLst>
              <a:gd name="adj" fmla="val 3019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65392" y="1545336"/>
            <a:ext cx="4517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Threshold claim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65392" y="1856232"/>
            <a:ext cx="4517136" cy="18928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coding-oriented models made these workflows much more accessible in practice.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no longer needs a highly specialized system to begin trying serious experiments.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68680" y="393192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409651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off-the-shelf model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907792" y="414223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3246120" y="393192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55848" y="409651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/ run loop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85232" y="414223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623560" y="393192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33288" y="409651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 feedback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662672" y="414223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8001000" y="393192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728" y="409651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repair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530352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why Urban-style experiments suddenly became plausible for ordinary users.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Serre duality: a personal experiment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325880"/>
            <a:ext cx="5806440" cy="3703320"/>
          </a:xfrm>
          <a:prstGeom prst="roundRect">
            <a:avLst/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527048"/>
            <a:ext cx="5477256" cy="33009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screenshot from the Serre duality experiment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903720" y="1463040"/>
            <a:ext cx="4297680" cy="2743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my own experiment, this kind of workflow was strong enough to be genuinely useful.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point was not that the system could simply be trusted.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point was that it could help produce formal mathematics that could then be checked.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8680" y="5349240"/>
            <a:ext cx="10378440" cy="822960"/>
          </a:xfrm>
          <a:prstGeom prst="roundRect">
            <a:avLst>
              <a:gd name="adj" fmla="val 8889"/>
            </a:avLst>
          </a:prstGeom>
          <a:solidFill>
            <a:srgbClr val="DCE7ED"/>
          </a:solidFill>
          <a:ln w="12700">
            <a:solidFill>
              <a:srgbClr val="3F5C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33272" y="5513832"/>
            <a:ext cx="10049256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ask whether one should trust an AI mathematician, my answer is no, not in the ordinary sense. But one can increasingly trust a workflow in which generation is coupled to real verification.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Should You Trust an AI Mathematician?</dc:title>
  <dc:subject>Math department colloquium deck skeleton</dc:subject>
  <dc:creator>OpenAI Codex</dc:creator>
  <cp:lastModifiedBy>OpenAI Codex</cp:lastModifiedBy>
  <cp:revision>1</cp:revision>
  <dcterms:created xsi:type="dcterms:W3CDTF">2026-03-09T11:41:14Z</dcterms:created>
  <dcterms:modified xsi:type="dcterms:W3CDTF">2026-03-09T11:41:14Z</dcterms:modified>
</cp:coreProperties>
</file>